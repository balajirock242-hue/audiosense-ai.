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>
              <a:defRPr sz="2800" b="1">
                <a:latin typeface="Arial"/>
              </a:defRPr>
            </a:pPr>
            <a:r>
              <a:rPr>
                <a:latin typeface="Arial"/>
              </a:rPr>
              <a:t>IBM University Engagement</a:t>
            </a:r>
            <a:br/>
            <a:r>
              <a:rPr>
                <a:latin typeface="Arial"/>
              </a:rPr>
              <a:t>Project Submission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 wrap="square"/>
          <a:lstStyle/>
          <a:p>
            <a:pPr algn="ctr">
              <a:defRPr sz="2200" b="1">
                <a:latin typeface="Arial"/>
              </a:defRPr>
            </a:pPr>
            <a:r>
              <a:rPr>
                <a:latin typeface="Arial"/>
              </a:rPr>
              <a:t>“Exploring the Power of Agentic AI with IBM Granite and IBM Bob”</a:t>
            </a:r>
            <a:br/>
            <a:br/>
            <a:r>
              <a:rPr>
                <a:latin typeface="Arial"/>
              </a:rPr>
              <a:t>AudioSense AI – Audio Signal Processing Assistant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600">
                          <a:latin typeface="Arial"/>
                        </a:defRPr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600">
                          <a:latin typeface="Arial"/>
                        </a:defRPr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 sz="1600">
                          <a:latin typeface="Arial"/>
                        </a:defRPr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  <a:defRPr sz="1600">
                          <a:latin typeface="Arial"/>
                        </a:defRPr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  <a:defRPr sz="1600">
                          <a:latin typeface="Arial"/>
                        </a:defRPr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Balaji 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Arial"/>
              </a:rPr>
              <a:t>Domain of  Project – </a:t>
            </a:r>
            <a:r>
              <a:rPr lang="en-US" sz="2400" b="1">
                <a:highlight>
                  <a:srgbClr val="FFFF00"/>
                </a:highlight>
                <a:latin typeface="Arial"/>
              </a:rPr>
              <a:t>[ like Agriculture / Education / Healthcare / … 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latin typeface="Arial"/>
              </a:defRPr>
            </a:pPr>
            <a:r>
              <a:rPr>
                <a:latin typeface="Arial"/>
              </a:rPr>
              <a:t>Project Title – AudioSense AI: IBM Granite Powered Audio Signal Processing Assistant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600" b="0">
                <a:latin typeface="Arial"/>
              </a:defRPr>
            </a:pPr>
            <a:r>
              <a:rPr>
                <a:latin typeface="Arial"/>
              </a:rPr>
              <a:t>Email ID and Mobile/WhatsApp: Please fill these fields before submission.</a:t>
            </a:r>
            <a:br/>
            <a:br/>
            <a:r>
              <a:rPr>
                <a:latin typeface="Arial"/>
              </a:rPr>
              <a:t>Recommended font: Arial</a:t>
            </a:r>
            <a:br/>
            <a:r>
              <a:rPr>
                <a:latin typeface="Arial"/>
              </a:rPr>
              <a:t>Heading: 28 pt | Content: 20 pt</a:t>
            </a:r>
          </a:p>
        </p:txBody>
      </p:sp>
      <p:pic>
        <p:nvPicPr>
          <p:cNvPr id="97" name="Picture 96" descr="Screenshot 2025-10-19 122736(20260908-11245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1" y="3739896"/>
            <a:ext cx="758952" cy="80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defRPr sz="1800" b="0">
                <a:latin typeface="Arial"/>
              </a:defRPr>
            </a:pPr>
            <a:r>
              <a:rPr>
                <a:latin typeface="Arial"/>
              </a:rPr>
              <a:t>The Challenge</a:t>
            </a:r>
            <a:br/>
            <a:br/>
            <a:r>
              <a:rPr>
                <a:latin typeface="Arial"/>
              </a:rPr>
              <a:t>Audio preamplifiers, filters and amplifiers can suffer from hum, noise, distortion, low gain, oscillation and incorrect filter settings. Troubleshooting often requires checking several circuit conditions and component choices.</a:t>
            </a:r>
            <a:br/>
            <a:br/>
            <a:r>
              <a:rPr>
                <a:latin typeface="Arial"/>
              </a:rPr>
              <a:t>The Objective</a:t>
            </a:r>
            <a:br/>
            <a:br/>
            <a:r>
              <a:rPr>
                <a:latin typeface="Arial"/>
              </a:rPr>
              <a:t>Build an AI-powered Audio Signal Processing Assistant Agent that helps Electronics and Telecommunications Engineering students:</a:t>
            </a:r>
            <a:br/>
            <a:r>
              <a:rPr>
                <a:latin typeface="Arial"/>
              </a:rPr>
              <a:t>• Diagnose common audio amplifier and preamplifier problems.</a:t>
            </a:r>
            <a:br/>
            <a:r>
              <a:rPr>
                <a:latin typeface="Arial"/>
              </a:rPr>
              <a:t>• Suggest filter designs and calculate RC cutoff frequency.</a:t>
            </a:r>
            <a:br/>
            <a:r>
              <a:rPr>
                <a:latin typeface="Arial"/>
              </a:rPr>
              <a:t>• Explain grounding, shielding, noise and distortion causes.</a:t>
            </a:r>
            <a:br/>
            <a:r>
              <a:rPr>
                <a:latin typeface="Arial"/>
              </a:rPr>
              <a:t>• Provide systematic diagnostic checks and practical recommendations.</a:t>
            </a:r>
            <a:br/>
            <a:r>
              <a:rPr>
                <a:latin typeface="Arial"/>
              </a:rPr>
              <a:t>• Use IBM Granite and IBM Bob as core project technologies.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 b="1">
                <a:latin typeface="Arial"/>
              </a:defRPr>
            </a:pPr>
            <a:r>
              <a:rPr>
                <a:latin typeface="Arial"/>
              </a:rPr>
              <a:t>Problem Statement – Audio Signal Processing Assistant Agent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defRPr sz="1700" b="0">
                <a:latin typeface="Arial"/>
              </a:defRPr>
            </a:pPr>
            <a:r>
              <a:rPr>
                <a:latin typeface="Arial"/>
              </a:rPr>
              <a:t>AudioSense AI is a Streamlit-based engineering assistant developed with IBM Bob.</a:t>
            </a:r>
            <a:br/>
            <a:br/>
            <a:r>
              <a:rPr>
                <a:latin typeface="Arial"/>
              </a:rPr>
              <a:t>Workflow:</a:t>
            </a:r>
            <a:br/>
            <a:r>
              <a:rPr>
                <a:latin typeface="Arial"/>
              </a:rPr>
              <a:t>1. User describes an audio-circuit problem.</a:t>
            </a:r>
            <a:br/>
            <a:r>
              <a:rPr>
                <a:latin typeface="Arial"/>
              </a:rPr>
              <a:t>2. Query analyzer identifies the problem type.</a:t>
            </a:r>
            <a:br/>
            <a:r>
              <a:rPr>
                <a:latin typeface="Arial"/>
              </a:rPr>
              <a:t>3. Local audio-engineering knowledge base supplies relevant guidance.</a:t>
            </a:r>
            <a:br/>
            <a:r>
              <a:rPr>
                <a:latin typeface="Arial"/>
              </a:rPr>
              <a:t>4. Engineering logic provides structured diagnosis/calculation.</a:t>
            </a:r>
            <a:br/>
            <a:r>
              <a:rPr>
                <a:latin typeface="Arial"/>
              </a:rPr>
              <a:t>5. IBM Granite 4 H Small is validated through the watsonx.ai demo for audio-engineering prompts.</a:t>
            </a:r>
            <a:br/>
            <a:r>
              <a:rPr>
                <a:latin typeface="Arial"/>
              </a:rPr>
              <a:t>6. The application presents probable causes, diagnostic checks and recommended actions.</a:t>
            </a:r>
            <a:br/>
            <a:br/>
            <a:r>
              <a:rPr>
                <a:latin typeface="Arial"/>
              </a:rPr>
              <a:t>Main modules:</a:t>
            </a:r>
            <a:br/>
            <a:r>
              <a:rPr>
                <a:latin typeface="Arial"/>
              </a:rPr>
              <a:t>• Noise Troubleshooter</a:t>
            </a:r>
            <a:br/>
            <a:r>
              <a:rPr>
                <a:latin typeface="Arial"/>
              </a:rPr>
              <a:t>• Filter Assistant</a:t>
            </a:r>
            <a:br/>
            <a:r>
              <a:rPr>
                <a:latin typeface="Arial"/>
              </a:rPr>
              <a:t>• Amplifier Troubleshooter</a:t>
            </a:r>
            <a:br/>
            <a:r>
              <a:rPr>
                <a:latin typeface="Arial"/>
              </a:rPr>
              <a:t>• Circuit Advisor</a:t>
            </a:r>
            <a:br/>
            <a:r>
              <a:rPr>
                <a:latin typeface="Arial"/>
              </a:rPr>
              <a:t>• Quick Diagnosis</a:t>
            </a:r>
            <a:br/>
            <a:r>
              <a:rPr>
                <a:latin typeface="Arial"/>
              </a:rPr>
              <a:t>• Knowledge Base</a:t>
            </a:r>
            <a:br/>
            <a:r>
              <a:rPr>
                <a:latin typeface="Arial"/>
              </a:rPr>
              <a:t>• RC cutoff-frequency calculator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 b="1">
                <a:latin typeface="Arial"/>
              </a:defRPr>
            </a:pPr>
            <a:r>
              <a:rPr>
                <a:latin typeface="Arial"/>
              </a:rPr>
              <a:t>Proposed Solution – AudioSense AI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2400" b="1">
                <a:latin typeface="Arial"/>
              </a:defRPr>
            </a:pPr>
            <a:r>
              <a:rPr>
                <a:latin typeface="Arial"/>
              </a:rPr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0">
                <a:latin typeface="Arial"/>
              </a:defRPr>
            </a:pPr>
            <a:r>
              <a:rPr>
                <a:latin typeface="Arial"/>
              </a:rPr>
              <a:t>• IBM Bob – used to create, edit, test and troubleshoot the AudioSense AI project.</a:t>
            </a:r>
            <a:br/>
            <a:r>
              <a:rPr>
                <a:latin typeface="Arial"/>
              </a:rPr>
              <a:t>• IBM Granite 4 H Small – used for AI validation through IBM watsonx.ai demo.</a:t>
            </a:r>
            <a:br/>
            <a:r>
              <a:rPr>
                <a:latin typeface="Arial"/>
              </a:rPr>
              <a:t>• IBM watsonx.ai – used to validate Granite responses for audio-engineering prompts.</a:t>
            </a:r>
            <a:br/>
            <a:r>
              <a:rPr>
                <a:latin typeface="Arial"/>
              </a:rPr>
              <a:t>• Python – application and engineering logic.</a:t>
            </a:r>
            <a:br/>
            <a:r>
              <a:rPr>
                <a:latin typeface="Arial"/>
              </a:rPr>
              <a:t>• Streamlit – interactive web interface.</a:t>
            </a:r>
            <a:br/>
            <a:r>
              <a:rPr>
                <a:latin typeface="Arial"/>
              </a:rPr>
              <a:t>• RAG-style local knowledge retrieval – audio engineering reference content.</a:t>
            </a:r>
            <a:br/>
            <a:r>
              <a:rPr>
                <a:latin typeface="Arial"/>
              </a:rPr>
              <a:t>• Automated tests – 96 tests passed with 0 failures.</a:t>
            </a:r>
            <a:br/>
            <a:r>
              <a:rPr>
                <a:latin typeface="Arial"/>
              </a:rPr>
              <a:t>• RC filter calculation – fc = 1 / (2πRC).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sz="2200" b="1">
                <a:latin typeface="Arial"/>
              </a:defRPr>
            </a:pPr>
            <a:r>
              <a:rPr>
                <a:latin typeface="Arial"/>
              </a:rPr>
              <a:t>Required Files Created Using IBM Bob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 sz="1600" b="0">
                <a:latin typeface="Arial"/>
              </a:defRPr>
            </a:pPr>
            <a:r>
              <a:rPr>
                <a:latin typeface="Arial"/>
              </a:rPr>
              <a:t>AudioSense-AI/</a:t>
            </a:r>
            <a:br/>
            <a:r>
              <a:rPr>
                <a:latin typeface="Arial"/>
              </a:rPr>
              <a:t>├── app/</a:t>
            </a:r>
            <a:br/>
            <a:r>
              <a:rPr>
                <a:latin typeface="Arial"/>
              </a:rPr>
              <a:t>│   ├── main.py</a:t>
            </a:r>
            <a:br/>
            <a:r>
              <a:rPr>
                <a:latin typeface="Arial"/>
              </a:rPr>
              <a:t>│   ├── granite_service.py</a:t>
            </a:r>
            <a:br/>
            <a:r>
              <a:rPr>
                <a:latin typeface="Arial"/>
              </a:rPr>
              <a:t>│   ├── query_analyzer.py</a:t>
            </a:r>
            <a:br/>
            <a:r>
              <a:rPr>
                <a:latin typeface="Arial"/>
              </a:rPr>
              <a:t>│   ├── knowledge_retriever.py</a:t>
            </a:r>
            <a:br/>
            <a:r>
              <a:rPr>
                <a:latin typeface="Arial"/>
              </a:rPr>
              <a:t>│   ├── calculator.py</a:t>
            </a:r>
            <a:br/>
            <a:r>
              <a:rPr>
                <a:latin typeface="Arial"/>
              </a:rPr>
              <a:t>│   └── ui.py</a:t>
            </a:r>
            <a:br/>
            <a:r>
              <a:rPr>
                <a:latin typeface="Arial"/>
              </a:rPr>
              <a:t>├── knowledge_base/</a:t>
            </a:r>
            <a:br/>
            <a:r>
              <a:rPr>
                <a:latin typeface="Arial"/>
              </a:rPr>
              <a:t>│   └── audio_engineering.md</a:t>
            </a:r>
            <a:br/>
            <a:r>
              <a:rPr>
                <a:latin typeface="Arial"/>
              </a:rPr>
              <a:t>├── tests/</a:t>
            </a:r>
            <a:br/>
            <a:r>
              <a:rPr>
                <a:latin typeface="Arial"/>
              </a:rPr>
              <a:t>├── README.md</a:t>
            </a:r>
            <a:br/>
            <a:r>
              <a:rPr>
                <a:latin typeface="Arial"/>
              </a:rPr>
              <a:t>├── requirements.txt</a:t>
            </a:r>
            <a:br/>
            <a:r>
              <a:rPr>
                <a:latin typeface="Arial"/>
              </a:rPr>
              <a:t>├── .env.example</a:t>
            </a:r>
            <a:br/>
            <a:r>
              <a:rPr>
                <a:latin typeface="Arial"/>
              </a:rPr>
              <a:t>├── .gitignore</a:t>
            </a:r>
            <a:br/>
            <a:r>
              <a:rPr>
                <a:latin typeface="Arial"/>
              </a:rPr>
              <a:t>└── LICENSE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FF7BC6-93D0-8D42-34B7-C226B1B96C2D}"/>
              </a:ext>
            </a:extLst>
          </p:cNvPr>
          <p:cNvSpPr/>
          <p:nvPr/>
        </p:nvSpPr>
        <p:spPr>
          <a:xfrm>
            <a:off x="4250700" y="202996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4" name="Picture 153" descr="70944ad9-9d3a-47d3-9882-e432e11113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39" y="1608772"/>
            <a:ext cx="7772400" cy="4371975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4023360" y="626364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IBM Bob workspace showing the AudioSense AI knowledge base and project files</a:t>
            </a:r>
          </a:p>
        </p:txBody>
      </p:sp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sz="2200" b="1">
                <a:latin typeface="Arial"/>
              </a:defRPr>
            </a:pPr>
            <a:r>
              <a:rPr>
                <a:latin typeface="Arial"/>
              </a:rPr>
              <a:t>IBM Bob – Project Development Screenshot</a:t>
            </a:r>
            <a:endParaRPr sz="2400" b="1">
              <a:sym typeface="Times New Roman"/>
            </a:endParaRPr>
          </a:p>
        </p:txBody>
      </p:sp>
      <p:pic>
        <p:nvPicPr>
          <p:cNvPr id="3" name="Picture 2" descr="70944ad9-9d3a-47d3-9882-e432e11113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960" y="914400"/>
            <a:ext cx="9753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1908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IBM Bob was used to build and review the AudioSense AI engineering knowledge base.</a:t>
            </a:r>
          </a:p>
        </p:txBody>
      </p:sp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IBM watsonx.ai – Granite 4 H Small Model Validation</a:t>
            </a:r>
          </a:p>
        </p:txBody>
      </p:sp>
      <p:pic>
        <p:nvPicPr>
          <p:cNvPr id="3" name="Picture 2" descr="0ca1ddee-1454-4435-a34b-51403b660e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86868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Model selected: granite-4-h-small. The demo was used to validate AI responses for audio-engineering prompts.</a:t>
            </a:r>
          </a:p>
        </p:txBody>
      </p:sp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defRPr sz="2200" b="1">
                <a:latin typeface="Arial"/>
              </a:defRPr>
            </a:pPr>
            <a:r>
              <a:rPr>
                <a:latin typeface="Arial"/>
              </a:rPr>
              <a:t>Architecture Blueprint for AudioSense AI</a:t>
            </a:r>
            <a:endParaRPr lang="en-US" sz="2400"/>
          </a:p>
        </p:txBody>
      </p:sp>
      <p:sp>
        <p:nvSpPr>
          <p:cNvPr id="3" name="Rounded Rectangle 2"/>
          <p:cNvSpPr/>
          <p:nvPr/>
        </p:nvSpPr>
        <p:spPr>
          <a:xfrm>
            <a:off x="502920" y="2331720"/>
            <a:ext cx="1417320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rPr>
                <a:latin typeface="Arial"/>
              </a:rP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2331720"/>
            <a:ext cx="1691640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rPr>
                <a:latin typeface="Arial"/>
              </a:rPr>
              <a:t>Streamlit</a:t>
            </a:r>
            <a:br/>
            <a:r>
              <a:rPr>
                <a:latin typeface="Arial"/>
              </a:rPr>
              <a:t>Web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08760"/>
            <a:ext cx="1874519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rPr>
                <a:latin typeface="Arial"/>
              </a:rPr>
              <a:t>Query Analyzer</a:t>
            </a:r>
            <a:br/>
            <a:r>
              <a:rPr>
                <a:latin typeface="Arial"/>
              </a:rPr>
              <a:t>+ Problem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971800"/>
            <a:ext cx="1874519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rPr>
                <a:latin typeface="Arial"/>
              </a:rPr>
              <a:t>Knowledge Base</a:t>
            </a:r>
            <a:br/>
            <a:r>
              <a:rPr>
                <a:latin typeface="Arial"/>
              </a:rPr>
              <a:t>+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2971800"/>
            <a:ext cx="1965960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rPr>
                <a:latin typeface="Arial"/>
              </a:rPr>
              <a:t>Engineering Logic</a:t>
            </a:r>
            <a:br/>
            <a:r>
              <a:rPr>
                <a:latin typeface="Arial"/>
              </a:rPr>
              <a:t>+ Calculator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508760"/>
            <a:ext cx="1965960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rPr>
                <a:latin typeface="Arial"/>
              </a:rPr>
              <a:t>IBM Granite</a:t>
            </a:r>
            <a:br/>
            <a:r>
              <a:rPr>
                <a:latin typeface="Arial"/>
              </a:rPr>
              <a:t>4 H Small*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331720"/>
            <a:ext cx="2148840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rPr>
                <a:latin typeface="Arial"/>
              </a:rPr>
              <a:t>Diagnosis / Filter</a:t>
            </a:r>
            <a:br/>
            <a:r>
              <a:rPr>
                <a:latin typeface="Arial"/>
              </a:rPr>
              <a:t>Recommendation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65960" y="2578608"/>
            <a:ext cx="292608" cy="256032"/>
          </a:xfrm>
          <a:prstGeom prst="rightArrow">
            <a:avLst/>
          </a:prstGeom>
          <a:solidFill>
            <a:srgbClr val="5A82B4"/>
          </a:solidFill>
          <a:ln>
            <a:solidFill>
              <a:srgbClr val="5A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050791" y="2514600"/>
            <a:ext cx="310896" cy="256032"/>
          </a:xfrm>
          <a:prstGeom prst="rightArrow">
            <a:avLst/>
          </a:prstGeom>
          <a:solidFill>
            <a:srgbClr val="5A82B4"/>
          </a:solidFill>
          <a:ln>
            <a:solidFill>
              <a:srgbClr val="5A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440680" y="2221992"/>
            <a:ext cx="274320" cy="502920"/>
          </a:xfrm>
          <a:prstGeom prst="rightArrow">
            <a:avLst/>
          </a:prstGeom>
          <a:solidFill>
            <a:srgbClr val="5A82B4"/>
          </a:solidFill>
          <a:ln>
            <a:solidFill>
              <a:srgbClr val="5A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355080" y="1700784"/>
            <a:ext cx="347472" cy="274320"/>
          </a:xfrm>
          <a:prstGeom prst="rightArrow">
            <a:avLst/>
          </a:prstGeom>
          <a:solidFill>
            <a:srgbClr val="5A82B4"/>
          </a:solidFill>
          <a:ln>
            <a:solidFill>
              <a:srgbClr val="5A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355080" y="3154680"/>
            <a:ext cx="347472" cy="274320"/>
          </a:xfrm>
          <a:prstGeom prst="rightArrow">
            <a:avLst/>
          </a:prstGeom>
          <a:solidFill>
            <a:srgbClr val="5A82B4"/>
          </a:solidFill>
          <a:ln>
            <a:solidFill>
              <a:srgbClr val="5A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915400" y="1737360"/>
            <a:ext cx="365760" cy="274320"/>
          </a:xfrm>
          <a:prstGeom prst="rightArrow">
            <a:avLst/>
          </a:prstGeom>
          <a:solidFill>
            <a:srgbClr val="5A82B4"/>
          </a:solidFill>
          <a:ln>
            <a:solidFill>
              <a:srgbClr val="5A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915400" y="3127248"/>
            <a:ext cx="365760" cy="274320"/>
          </a:xfrm>
          <a:prstGeom prst="rightArrow">
            <a:avLst/>
          </a:prstGeom>
          <a:solidFill>
            <a:srgbClr val="5A82B4"/>
          </a:solidFill>
          <a:ln>
            <a:solidFill>
              <a:srgbClr val="5A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A5A5A"/>
                </a:solidFill>
                <a:latin typeface="Arial"/>
              </a:defRPr>
            </a:pPr>
            <a:r>
              <a:rPr>
                <a:latin typeface="Arial"/>
              </a:rPr>
              <a:t>* Granite 4 H Small is validated in the IBM watsonx.ai demo; the local application remains in Demo Mode without live API credentials.</a:t>
            </a:r>
          </a:p>
        </p:txBody>
      </p:sp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>
                <a:latin typeface="Arial"/>
              </a:defRPr>
            </a:pPr>
            <a:r>
              <a:rPr>
                <a:latin typeface="Arial"/>
              </a:rPr>
              <a:t>Role of Agentic AI in the Solution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0">
                <a:latin typeface="Arial"/>
              </a:defRPr>
            </a:pPr>
            <a:r>
              <a:rPr>
                <a:latin typeface="Arial"/>
              </a:rPr>
              <a:t>AudioSense AI applies agent-style task routing rather than treating every query as the same request.</a:t>
            </a:r>
            <a:br/>
            <a:br/>
            <a:r>
              <a:rPr>
                <a:latin typeface="Arial"/>
              </a:rPr>
              <a:t>• Context awareness – identifies whether the user needs noise, filter, amplifier or general circuit guidance.</a:t>
            </a:r>
            <a:br/>
            <a:r>
              <a:rPr>
                <a:latin typeface="Arial"/>
              </a:rPr>
              <a:t>• Specialized tasks – separate troubleshooters and calculator logic handle different engineering problems.</a:t>
            </a:r>
            <a:br/>
            <a:r>
              <a:rPr>
                <a:latin typeface="Arial"/>
              </a:rPr>
              <a:t>• Retrieval – relevant audio-engineering knowledge is selected before presenting the result.</a:t>
            </a:r>
            <a:br/>
            <a:r>
              <a:rPr>
                <a:latin typeface="Arial"/>
              </a:rPr>
              <a:t>• Tool-like calculation – RC cutoff frequency is calculated from R and C values.</a:t>
            </a:r>
            <a:br/>
            <a:r>
              <a:rPr>
                <a:latin typeface="Arial"/>
              </a:rPr>
              <a:t>• Structured output – probable causes, diagnostic checks and recommendations are shown clearly.</a:t>
            </a:r>
            <a:br/>
            <a:r>
              <a:rPr>
                <a:latin typeface="Arial"/>
              </a:rPr>
              <a:t>• Human verification – results are educational guidance and circuit conditions/component ratings must be verified before hardware changes.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  <a:defRPr sz="2200" b="1">
                <a:latin typeface="Arial"/>
              </a:defRPr>
            </a:pPr>
            <a:r>
              <a:rPr>
                <a:latin typeface="Arial"/>
              </a:rPr>
              <a:t>Granite Demo Token Usage &amp; Validation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700" b="1">
                <a:latin typeface="Arial"/>
              </a:defRPr>
            </a:pPr>
            <a:r>
              <a:rPr>
                <a:latin typeface="Arial"/>
              </a:rPr>
              <a:t>1,823 / 20,000 tokens used during Granite demo validation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500" b="1">
                <a:latin typeface="Arial"/>
              </a:defRPr>
            </a:pPr>
            <a:r>
              <a:rPr>
                <a:latin typeface="Arial"/>
              </a:rPr>
              <a:t>Granite model selected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500" b="1">
                <a:latin typeface="Arial"/>
              </a:defRPr>
            </a:pPr>
            <a:r>
              <a:rPr>
                <a:latin typeface="Arial"/>
              </a:rPr>
              <a:t>Engineering prompt response</a:t>
            </a:r>
          </a:p>
        </p:txBody>
      </p:sp>
      <p:pic>
        <p:nvPicPr>
          <p:cNvPr id="283" name="Picture 282" descr="0ca1ddee-1454-4435-a34b-51403b660e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2173129"/>
            <a:ext cx="5440680" cy="3060382"/>
          </a:xfrm>
          <a:prstGeom prst="rect">
            <a:avLst/>
          </a:prstGeom>
        </p:spPr>
      </p:pic>
      <p:pic>
        <p:nvPicPr>
          <p:cNvPr id="284" name="Picture 283" descr="7b8eb665-28dc-4eea-94a1-d9b9d703d8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064" y="2148840"/>
            <a:ext cx="5657832" cy="3108960"/>
          </a:xfrm>
          <a:prstGeom prst="rect">
            <a:avLst/>
          </a:prstGeom>
        </p:spPr>
      </p:pic>
      <p:sp>
        <p:nvSpPr>
          <p:cNvPr id="285" name="TextBox 284"/>
          <p:cNvSpPr txBox="1"/>
          <p:nvPr/>
        </p:nvSpPr>
        <p:spPr>
          <a:xfrm>
            <a:off x="914400" y="5440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Model selection screen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400800" y="5440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RC low-pass filter prompt and Granite response</a:t>
            </a:r>
          </a:p>
        </p:txBody>
      </p: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  <a:defRPr sz="2200" b="1">
                <a:latin typeface="Arial"/>
              </a:defRPr>
            </a:pPr>
            <a:r>
              <a:rPr>
                <a:latin typeface="Arial"/>
              </a:rPr>
              <a:t>Project Output Screenshot – Noise Troubleshooter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latin typeface="Arial"/>
              </a:defRPr>
            </a:pPr>
            <a:r>
              <a:rPr>
                <a:latin typeface="Arial"/>
              </a:rPr>
              <a:t>Prompt: “My audio amplifier has a 50 Hz hum in the output. What could be causing it and how can I troubleshoot and reduce it?”</a:t>
            </a:r>
          </a:p>
        </p:txBody>
      </p:sp>
      <p:pic>
        <p:nvPicPr>
          <p:cNvPr id="283" name="Picture 282" descr="e92851ad-4558-4ed3-b37a-8a3a9e9476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208" y="2514600"/>
            <a:ext cx="5481383" cy="37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  <a:defRPr sz="2200" b="1">
                <a:latin typeface="Arial"/>
              </a:defRPr>
            </a:pPr>
            <a:r>
              <a:rPr>
                <a:latin typeface="Arial"/>
              </a:rPr>
              <a:t>Project Output Screenshot – Filter Assistant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latin typeface="Arial"/>
              </a:defRPr>
            </a:pPr>
            <a:r>
              <a:rPr>
                <a:latin typeface="Arial"/>
              </a:rPr>
              <a:t>Prompt: “Design an RC low-pass filter with a cutoff frequency of 1 kHz.”</a:t>
            </a:r>
          </a:p>
        </p:txBody>
      </p:sp>
      <p:pic>
        <p:nvPicPr>
          <p:cNvPr id="283" name="Picture 282" descr="9cc209a1-cc93-47f6-894c-8506095a8b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578" y="2514600"/>
            <a:ext cx="6992923" cy="37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  <a:defRPr sz="2200" b="1">
                <a:latin typeface="Arial"/>
              </a:defRPr>
            </a:pPr>
            <a:r>
              <a:rPr>
                <a:latin typeface="Arial"/>
              </a:rPr>
              <a:t>Project Output Screenshot – Amplifier Troubleshooter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1">
                <a:latin typeface="Arial"/>
              </a:defRPr>
            </a:pPr>
            <a:r>
              <a:rPr>
                <a:latin typeface="Arial"/>
              </a:rPr>
              <a:t>Prompt: “My audio amplifier has no output. What should I check?”</a:t>
            </a:r>
          </a:p>
        </p:txBody>
      </p:sp>
      <p:pic>
        <p:nvPicPr>
          <p:cNvPr id="283" name="Picture 282" descr="908655ed-52cf-4ef1-a0d2-9a4a7e210b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916" y="2514600"/>
            <a:ext cx="6023687" cy="37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>
                <a:latin typeface="Arial"/>
              </a:defRPr>
            </a:pPr>
            <a:r>
              <a:rPr>
                <a:latin typeface="Arial"/>
              </a:rPr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0">
                <a:latin typeface="Arial"/>
              </a:defRPr>
            </a:pPr>
            <a:r>
              <a:rPr>
                <a:latin typeface="Arial"/>
              </a:rPr>
              <a:t>AudioSense AI combines practical audio-engineering troubleshooting with an AI-assisted interface.</a:t>
            </a:r>
            <a:br/>
            <a:br/>
            <a:r>
              <a:rPr>
                <a:latin typeface="Arial"/>
              </a:rPr>
              <a:t>• Engineering-focused – designed specifically for preamps, filters, op-amps and audio amplifiers.</a:t>
            </a:r>
            <a:br/>
            <a:r>
              <a:rPr>
                <a:latin typeface="Arial"/>
              </a:rPr>
              <a:t>• Multiple specialist modules – noise, filters, amplifiers, circuit advice and quick diagnosis.</a:t>
            </a:r>
            <a:br/>
            <a:r>
              <a:rPr>
                <a:latin typeface="Arial"/>
              </a:rPr>
              <a:t>• Explainable results – probable causes, diagnostic checks and recommended solutions are shown.</a:t>
            </a:r>
            <a:br/>
            <a:r>
              <a:rPr>
                <a:latin typeface="Arial"/>
              </a:rPr>
              <a:t>• Calculation support – RC cutoff frequency is calculated directly from component values.</a:t>
            </a:r>
            <a:br/>
            <a:r>
              <a:rPr>
                <a:latin typeface="Arial"/>
              </a:rPr>
              <a:t>• Knowledge retrieval – uses a dedicated audio-engineering reference base.</a:t>
            </a:r>
            <a:br/>
            <a:r>
              <a:rPr>
                <a:latin typeface="Arial"/>
              </a:rPr>
              <a:t>• Granite validation – IBM Granite 4 H Small was tested with audio-engineering prompts in watsonx.ai.</a:t>
            </a:r>
            <a:br/>
            <a:r>
              <a:rPr>
                <a:latin typeface="Arial"/>
              </a:rPr>
              <a:t>• Student-friendly – provides structured guidance that can be followed during circuit debugging.</a:t>
            </a:r>
            <a:br/>
            <a:r>
              <a:rPr>
                <a:latin typeface="Arial"/>
              </a:rPr>
              <a:t>• Safety-aware – results are educational guidance with verification/disclaimer messaging.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sz="2400" b="1">
                <a:latin typeface="Arial"/>
              </a:defRPr>
            </a:pPr>
            <a:r>
              <a:rPr>
                <a:latin typeface="Arial"/>
              </a:rPr>
              <a:t>GitHub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sz="1700" b="0">
                <a:latin typeface="Arial"/>
              </a:defRPr>
            </a:pPr>
            <a:r>
              <a:rPr>
                <a:latin typeface="Arial"/>
              </a:rPr>
              <a:t>Public repository to contain:</a:t>
            </a:r>
            <a:br/>
            <a:r>
              <a:rPr>
                <a:latin typeface="Arial"/>
              </a:rPr>
              <a:t>1. All AudioSense AI source files and IBM Bob project files</a:t>
            </a:r>
            <a:br/>
            <a:r>
              <a:rPr>
                <a:latin typeface="Arial"/>
              </a:rPr>
              <a:t>2. requirements.txt and configuration examples</a:t>
            </a:r>
            <a:br/>
            <a:r>
              <a:rPr>
                <a:latin typeface="Arial"/>
              </a:rPr>
              <a:t>3. Audio engineering knowledge base</a:t>
            </a:r>
            <a:br/>
            <a:r>
              <a:rPr>
                <a:latin typeface="Arial"/>
              </a:rPr>
              <a:t>4. Tests</a:t>
            </a:r>
            <a:br/>
            <a:r>
              <a:rPr>
                <a:latin typeface="Arial"/>
              </a:rPr>
              <a:t>5. Problem statement PDF</a:t>
            </a:r>
            <a:br/>
            <a:r>
              <a:rPr>
                <a:latin typeface="Arial"/>
              </a:rPr>
              <a:t>6. Final project presentation</a:t>
            </a:r>
            <a:br/>
            <a:br/>
            <a:r>
              <a:rPr>
                <a:latin typeface="Arial"/>
              </a:rPr>
              <a:t>GitHub URL:</a:t>
            </a:r>
            <a:br/>
            <a:r>
              <a:rPr>
                <a:latin typeface="Arial"/>
              </a:rPr>
              <a:t>https://github.com/balajirock242-hue/AudioSense-AI.</a:t>
            </a:r>
            <a:br/>
            <a:br/>
            <a:r>
              <a:rPr>
                <a:latin typeface="Arial"/>
              </a:rPr>
              <a:t>Repository should be tested before submission.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sz="2400" b="1">
                <a:latin typeface="Arial"/>
              </a:defRPr>
            </a:pPr>
            <a:r>
              <a:rPr>
                <a:latin typeface="Arial"/>
              </a:rPr>
              <a:t>Future Scope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sz="1600" b="0">
                <a:latin typeface="Arial"/>
              </a:defRPr>
            </a:pPr>
            <a:r>
              <a:rPr>
                <a:latin typeface="Arial"/>
              </a:rPr>
              <a:t>1. Live IBM Granite API Integration</a:t>
            </a:r>
            <a:br/>
            <a:r>
              <a:rPr>
                <a:latin typeface="Arial"/>
              </a:rPr>
              <a:t>Connect the deployed application to IBM watsonx.ai Runtime when eligible API credentials are available.</a:t>
            </a:r>
            <a:br/>
            <a:br/>
            <a:r>
              <a:rPr>
                <a:latin typeface="Arial"/>
              </a:rPr>
              <a:t>2. Audio File / Microphone Analysis</a:t>
            </a:r>
            <a:br/>
            <a:r>
              <a:rPr>
                <a:latin typeface="Arial"/>
              </a:rPr>
              <a:t>Accept recorded audio and estimate hum frequency, clipping and spectral noise.</a:t>
            </a:r>
            <a:br/>
            <a:br/>
            <a:r>
              <a:rPr>
                <a:latin typeface="Arial"/>
              </a:rPr>
              <a:t>3. Automatic Filter Design</a:t>
            </a:r>
            <a:br/>
            <a:r>
              <a:rPr>
                <a:latin typeface="Arial"/>
              </a:rPr>
              <a:t>Generate candidate R, C and active-filter values for requested cutoff and response targets.</a:t>
            </a:r>
            <a:br/>
            <a:br/>
            <a:r>
              <a:rPr>
                <a:latin typeface="Arial"/>
              </a:rPr>
              <a:t>4. Circuit Diagram Understanding</a:t>
            </a:r>
            <a:br/>
            <a:r>
              <a:rPr>
                <a:latin typeface="Arial"/>
              </a:rPr>
              <a:t>Allow users to upload a schematic and identify likely signal-path problems.</a:t>
            </a:r>
            <a:br/>
            <a:br/>
            <a:r>
              <a:rPr>
                <a:latin typeface="Arial"/>
              </a:rPr>
              <a:t>5. Oscilloscope / Measurement Integration</a:t>
            </a:r>
            <a:br/>
            <a:r>
              <a:rPr>
                <a:latin typeface="Arial"/>
              </a:rPr>
              <a:t>Import measured waveforms and use them as additional diagnostic evidence.</a:t>
            </a:r>
            <a:br/>
            <a:br/>
            <a:r>
              <a:rPr>
                <a:latin typeface="Arial"/>
              </a:rPr>
              <a:t>6. Expanded RAG Knowledge Base</a:t>
            </a:r>
            <a:br/>
            <a:r>
              <a:rPr>
                <a:latin typeface="Arial"/>
              </a:rPr>
              <a:t>Add verified datasheets, application notes and audio design references.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Arial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2400" b="1">
                <a:latin typeface="Arial"/>
              </a:defRPr>
            </a:pPr>
            <a:r>
              <a:rPr>
                <a:latin typeface="Arial"/>
              </a:rPr>
              <a:t>Certificates Earned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/>
              </a:rPr>
              <a:t>Please  add your </a:t>
            </a:r>
            <a:r>
              <a:rPr lang="en-US" sz="2400" b="1" dirty="0" err="1">
                <a:latin typeface="Arial"/>
              </a:rPr>
              <a:t>credly</a:t>
            </a:r>
            <a:r>
              <a:rPr lang="en-US" sz="2400" b="1" dirty="0">
                <a:latin typeface="Arial"/>
              </a:rPr>
              <a:t> certificate(Getting Started with Artificial Intelligence)  </a:t>
            </a:r>
          </a:p>
        </p:txBody>
      </p:sp>
      <p:pic>
        <p:nvPicPr>
          <p:cNvPr id="7" name="Picture 6" descr="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404" y="1325880"/>
            <a:ext cx="662671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Issued to Balaji M on Sep 04, 2026</a:t>
            </a:r>
          </a:p>
        </p:txBody>
      </p:sp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2200" b="1">
                <a:latin typeface="Arial"/>
              </a:defRPr>
            </a:pPr>
            <a:r>
              <a:rPr>
                <a:latin typeface="Arial"/>
              </a:rPr>
              <a:t>Additional IBM SkillsBuild Certificates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600" b="1">
                <a:latin typeface="Arial"/>
              </a:defRPr>
            </a:pPr>
            <a:r>
              <a:rPr>
                <a:latin typeface="Arial"/>
              </a:rPr>
              <a:t>Additional certificates earned by Balaji M</a:t>
            </a:r>
          </a:p>
        </p:txBody>
      </p:sp>
      <p:pic>
        <p:nvPicPr>
          <p:cNvPr id="7" name="Picture 6" descr="cy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2402"/>
            <a:ext cx="5212080" cy="4027516"/>
          </a:xfrm>
          <a:prstGeom prst="rect">
            <a:avLst/>
          </a:prstGeom>
        </p:spPr>
      </p:pic>
      <p:pic>
        <p:nvPicPr>
          <p:cNvPr id="8" name="Picture 7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52402"/>
            <a:ext cx="5212080" cy="40275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5806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Getting Started with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5806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3E68"/>
                </a:solidFill>
                <a:latin typeface="Arial"/>
              </a:defRPr>
            </a:pPr>
            <a:r>
              <a:rPr>
                <a:latin typeface="Arial"/>
              </a:rPr>
              <a:t>Journey to Cloud: Envisioning Your Solution</a:t>
            </a:r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1428</Words>
  <Application>Microsoft Office PowerPoint</Application>
  <PresentationFormat>Widescreen</PresentationFormat>
  <Paragraphs>142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Aswini Kumar Motapothula</cp:lastModifiedBy>
  <cp:revision>2</cp:revision>
  <dcterms:created xsi:type="dcterms:W3CDTF">2025-07-08T05:06:56Z</dcterms:created>
  <dcterms:modified xsi:type="dcterms:W3CDTF">2026-09-03T06:31:25Z</dcterms:modified>
</cp:coreProperties>
</file>